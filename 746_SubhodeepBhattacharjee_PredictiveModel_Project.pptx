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49846/premium-photo-justice-punishment-violence" TargetMode="External"/><Relationship Id="rId2" Type="http://schemas.openxmlformats.org/officeDocument/2006/relationships/image" Target="../media/image1.1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ubhodeepBhattacharjee/Predictive-Analytics-Projec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ublicdomainpictures.net/view-image.php?image=6227&amp;picture=behind-bar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frustratedteacher.com/2012/02/thursday-cartoon-fun-crime-no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6FE2-78D0-95C4-4BDE-DF7A0DA92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13605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Predictive Model for DECILE Score of a Criminal Offender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CBB0F-8D9C-61DD-6D08-3E4BC1B24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703" y="3143865"/>
            <a:ext cx="6400800" cy="143605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Predicting **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v_decile_score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** using Criminal Offender Screening Data (Florida, 2013–2014)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This project focuses on building predictive models for the response variable: 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v_decile_score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 using demographic, criminal history, and custody-related predictors from a criminal offender screening dataset.</a:t>
            </a:r>
            <a:endParaRPr lang="en-IN" sz="1600" dirty="0">
              <a:solidFill>
                <a:schemeClr val="accent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2F33E-A35D-AAFA-2FBB-C30D61D2EA33}"/>
              </a:ext>
            </a:extLst>
          </p:cNvPr>
          <p:cNvSpPr txBox="1"/>
          <p:nvPr/>
        </p:nvSpPr>
        <p:spPr>
          <a:xfrm>
            <a:off x="772703" y="5270091"/>
            <a:ext cx="5549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– Subhodeep Bhattacharjee</a:t>
            </a:r>
          </a:p>
          <a:p>
            <a:r>
              <a:rPr lang="en-IN" dirty="0"/>
              <a:t>Roll no – 746</a:t>
            </a:r>
          </a:p>
          <a:p>
            <a:r>
              <a:rPr lang="en-IN" dirty="0" err="1"/>
              <a:t>M.Sc</a:t>
            </a:r>
            <a:r>
              <a:rPr lang="en-IN" dirty="0"/>
              <a:t> Data Science’27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72774-6158-1DF7-EAF4-3C506EAFA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85212" y="4444180"/>
            <a:ext cx="3093833" cy="2144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65C7C1-7DAE-AEB5-927D-63B3F98B86F3}"/>
              </a:ext>
            </a:extLst>
          </p:cNvPr>
          <p:cNvSpPr txBox="1"/>
          <p:nvPr/>
        </p:nvSpPr>
        <p:spPr>
          <a:xfrm>
            <a:off x="772703" y="6281163"/>
            <a:ext cx="1282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hlinkClick r:id="rId4"/>
              </a:rPr>
              <a:t>GitHub Link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9192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3A73A8-EB7E-553D-9650-0BACDFEB716E}"/>
              </a:ext>
            </a:extLst>
          </p:cNvPr>
          <p:cNvSpPr txBox="1"/>
          <p:nvPr/>
        </p:nvSpPr>
        <p:spPr>
          <a:xfrm>
            <a:off x="2152124" y="197427"/>
            <a:ext cx="7580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0080"/>
                </a:highlight>
              </a:rPr>
              <a:t>EXPLORATORY DATA ANALYSIS [ EDA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76FA7-A3F3-4133-11BB-554C57795D50}"/>
              </a:ext>
            </a:extLst>
          </p:cNvPr>
          <p:cNvSpPr txBox="1"/>
          <p:nvPr/>
        </p:nvSpPr>
        <p:spPr>
          <a:xfrm>
            <a:off x="446809" y="1010802"/>
            <a:ext cx="2701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Observations – 5855</a:t>
            </a:r>
          </a:p>
          <a:p>
            <a:r>
              <a:rPr lang="en-IN" sz="1400" dirty="0"/>
              <a:t>Variables- 16 </a:t>
            </a:r>
          </a:p>
          <a:p>
            <a:r>
              <a:rPr lang="en-IN" sz="1400" dirty="0"/>
              <a:t>1-Response &amp; 15-Predictors</a:t>
            </a:r>
          </a:p>
          <a:p>
            <a:r>
              <a:rPr lang="en-IN" sz="1400" dirty="0"/>
              <a:t>No Null/Missing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22204B-2838-DC50-9420-F0C2A9F2D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557" y="1111827"/>
            <a:ext cx="6102320" cy="44548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C4620D-656E-DC5A-6484-EEB2C08D7FFE}"/>
              </a:ext>
            </a:extLst>
          </p:cNvPr>
          <p:cNvSpPr txBox="1"/>
          <p:nvPr/>
        </p:nvSpPr>
        <p:spPr>
          <a:xfrm>
            <a:off x="8291947" y="4925291"/>
            <a:ext cx="33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Box Plot for Outlier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B87E9-B8B8-EE9D-0AC7-0FBEED885F56}"/>
              </a:ext>
            </a:extLst>
          </p:cNvPr>
          <p:cNvSpPr txBox="1"/>
          <p:nvPr/>
        </p:nvSpPr>
        <p:spPr>
          <a:xfrm>
            <a:off x="446809" y="2206270"/>
            <a:ext cx="4213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u="sng" dirty="0">
                <a:solidFill>
                  <a:schemeClr val="bg1"/>
                </a:solidFill>
              </a:rPr>
              <a:t>Summary of 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5C5A9-3CA1-34C3-3595-A85DC65F51B6}"/>
              </a:ext>
            </a:extLst>
          </p:cNvPr>
          <p:cNvSpPr txBox="1"/>
          <p:nvPr/>
        </p:nvSpPr>
        <p:spPr>
          <a:xfrm>
            <a:off x="446810" y="2805011"/>
            <a:ext cx="5278581" cy="1247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-&gt; Mean shows average behavior</a:t>
            </a:r>
            <a:br>
              <a:rPr lang="en-US" dirty="0"/>
            </a:br>
            <a:r>
              <a:rPr lang="en-US" dirty="0"/>
              <a:t>-&gt; Median helps identify skewness</a:t>
            </a:r>
            <a:br>
              <a:rPr lang="en-US" dirty="0"/>
            </a:br>
            <a:r>
              <a:rPr lang="en-US" dirty="0"/>
              <a:t>-&gt; Large differences between mean and median indicate outliers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05B984-C7EC-FBE6-63C5-3C8479F585D1}"/>
              </a:ext>
            </a:extLst>
          </p:cNvPr>
          <p:cNvSpPr txBox="1"/>
          <p:nvPr/>
        </p:nvSpPr>
        <p:spPr>
          <a:xfrm>
            <a:off x="278206" y="4494404"/>
            <a:ext cx="55332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Points outside whiskers indicate potential outliers and here we see that variables like </a:t>
            </a:r>
            <a:r>
              <a:rPr lang="en-US" sz="1600" dirty="0" err="1"/>
              <a:t>priors_count</a:t>
            </a:r>
            <a:r>
              <a:rPr lang="en-US" sz="1600" dirty="0"/>
              <a:t> may contain extreme outliers amongst others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DECB16-EE97-BE16-8937-608EE20B5D3B}"/>
              </a:ext>
            </a:extLst>
          </p:cNvPr>
          <p:cNvSpPr txBox="1"/>
          <p:nvPr/>
        </p:nvSpPr>
        <p:spPr>
          <a:xfrm>
            <a:off x="2803271" y="6289483"/>
            <a:ext cx="6585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solidFill>
                  <a:srgbClr val="FFFF00"/>
                </a:solidFill>
              </a:rPr>
              <a:t>Check Point </a:t>
            </a:r>
            <a:r>
              <a:rPr lang="en-IN" dirty="0"/>
              <a:t>– Check for Correlation among the variables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ACF5CB-ADFC-1500-8C0A-5B42E158B329}"/>
              </a:ext>
            </a:extLst>
          </p:cNvPr>
          <p:cNvSpPr/>
          <p:nvPr/>
        </p:nvSpPr>
        <p:spPr>
          <a:xfrm>
            <a:off x="446809" y="1010802"/>
            <a:ext cx="2535382" cy="99683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1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5A359-5528-C1C9-657A-86D2F1F7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AF8831-8B3C-79D1-C3A3-164BC1A296F8}"/>
              </a:ext>
            </a:extLst>
          </p:cNvPr>
          <p:cNvSpPr txBox="1"/>
          <p:nvPr/>
        </p:nvSpPr>
        <p:spPr>
          <a:xfrm>
            <a:off x="2152124" y="197427"/>
            <a:ext cx="7580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0080"/>
                </a:highlight>
              </a:rPr>
              <a:t>EXPLORATORY DATA ANALYSIS [ EDA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4DF12-8564-9D9C-9DAE-E1259EA75D4E}"/>
              </a:ext>
            </a:extLst>
          </p:cNvPr>
          <p:cNvSpPr txBox="1"/>
          <p:nvPr/>
        </p:nvSpPr>
        <p:spPr>
          <a:xfrm>
            <a:off x="446809" y="1010802"/>
            <a:ext cx="2701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Observations – 5855</a:t>
            </a:r>
          </a:p>
          <a:p>
            <a:r>
              <a:rPr lang="en-IN" sz="1400" dirty="0"/>
              <a:t>Variables- 16 </a:t>
            </a:r>
          </a:p>
          <a:p>
            <a:r>
              <a:rPr lang="en-IN" sz="1400" dirty="0"/>
              <a:t>1-Response &amp; 15-Predictors</a:t>
            </a:r>
          </a:p>
          <a:p>
            <a:r>
              <a:rPr lang="en-IN" sz="1400" dirty="0"/>
              <a:t>No Null/Missing Values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CBA39-6C39-3693-CE72-E33E7E2C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702" y="1010802"/>
            <a:ext cx="4138577" cy="3441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5696F4-ACEA-2BB8-BB77-D3A2166D5ACE}"/>
              </a:ext>
            </a:extLst>
          </p:cNvPr>
          <p:cNvSpPr txBox="1"/>
          <p:nvPr/>
        </p:nvSpPr>
        <p:spPr>
          <a:xfrm>
            <a:off x="7367095" y="3999830"/>
            <a:ext cx="190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Correlation Plot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3E22E-565E-2D7E-0533-639FCAA45F24}"/>
              </a:ext>
            </a:extLst>
          </p:cNvPr>
          <p:cNvSpPr txBox="1"/>
          <p:nvPr/>
        </p:nvSpPr>
        <p:spPr>
          <a:xfrm>
            <a:off x="1486" y="2269881"/>
            <a:ext cx="72042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Correlation close to +1 → strong positive relationship</a:t>
            </a:r>
            <a:br>
              <a:rPr lang="en-US"/>
            </a:br>
            <a:r>
              <a:rPr lang="en-US"/>
              <a:t>Correlation close to -1 → strong negative relationship</a:t>
            </a:r>
            <a:br>
              <a:rPr lang="en-US"/>
            </a:br>
            <a:r>
              <a:rPr lang="en-US"/>
              <a:t>High correlation among predictors may create multicollinearity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798985-2F98-174E-10C8-FD848782E016}"/>
              </a:ext>
            </a:extLst>
          </p:cNvPr>
          <p:cNvSpPr/>
          <p:nvPr/>
        </p:nvSpPr>
        <p:spPr>
          <a:xfrm>
            <a:off x="405245" y="924791"/>
            <a:ext cx="2888673" cy="120534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3B4477-7CB4-1C87-7CCB-DDB27DC0D5D0}"/>
              </a:ext>
            </a:extLst>
          </p:cNvPr>
          <p:cNvSpPr txBox="1"/>
          <p:nvPr/>
        </p:nvSpPr>
        <p:spPr>
          <a:xfrm>
            <a:off x="145473" y="3429000"/>
            <a:ext cx="652549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pay special attention to:</a:t>
            </a:r>
            <a:br>
              <a:rPr lang="en-US" sz="1600" dirty="0"/>
            </a:br>
            <a:r>
              <a:rPr lang="en-US" sz="1600" dirty="0" err="1"/>
              <a:t>decile_score</a:t>
            </a:r>
            <a:br>
              <a:rPr lang="en-US" sz="1600" dirty="0"/>
            </a:br>
            <a:r>
              <a:rPr lang="en-US" sz="1600" dirty="0" err="1"/>
              <a:t>priors_count</a:t>
            </a:r>
            <a:br>
              <a:rPr lang="en-US" sz="1600" dirty="0"/>
            </a:br>
            <a:r>
              <a:rPr lang="en-US" sz="1600" dirty="0"/>
              <a:t>juvenile counts</a:t>
            </a:r>
            <a:br>
              <a:rPr lang="en-US" sz="1600" dirty="0"/>
            </a:br>
            <a:r>
              <a:rPr lang="en-US" sz="1600" dirty="0"/>
              <a:t>custody variables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These are likely important predictors.</a:t>
            </a:r>
          </a:p>
          <a:p>
            <a:endParaRPr lang="en-IN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F9A153-4577-F8CB-11AE-5BBCBAF14A5C}"/>
              </a:ext>
            </a:extLst>
          </p:cNvPr>
          <p:cNvSpPr txBox="1"/>
          <p:nvPr/>
        </p:nvSpPr>
        <p:spPr>
          <a:xfrm>
            <a:off x="138062" y="5507935"/>
            <a:ext cx="11908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FF00"/>
                </a:solidFill>
              </a:rPr>
              <a:t>Check Point </a:t>
            </a:r>
            <a:r>
              <a:rPr lang="en-IN" dirty="0"/>
              <a:t>– To find Predictive Models for we segregate our data as 70% Train Data (used to build model) and 30% as Test data(to check accuracy). We further fit Full Model, Subset Model and use Ridge and Lasso since we have multi collinearity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9899C-F5D8-42D6-A283-57DBA707BC2A}"/>
              </a:ext>
            </a:extLst>
          </p:cNvPr>
          <p:cNvSpPr/>
          <p:nvPr/>
        </p:nvSpPr>
        <p:spPr>
          <a:xfrm>
            <a:off x="138062" y="5491103"/>
            <a:ext cx="11823566" cy="103728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270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045380-A7F7-01A3-6E5C-533C33C01D34}"/>
              </a:ext>
            </a:extLst>
          </p:cNvPr>
          <p:cNvSpPr txBox="1"/>
          <p:nvPr/>
        </p:nvSpPr>
        <p:spPr>
          <a:xfrm>
            <a:off x="1946788" y="275304"/>
            <a:ext cx="7511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highlight>
                  <a:srgbClr val="000080"/>
                </a:highlight>
              </a:rPr>
              <a:t>FULL Multiple Linear Regression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23681-C48E-228B-D5DE-D6F201D47839}"/>
              </a:ext>
            </a:extLst>
          </p:cNvPr>
          <p:cNvSpPr txBox="1"/>
          <p:nvPr/>
        </p:nvSpPr>
        <p:spPr>
          <a:xfrm>
            <a:off x="257352" y="996108"/>
            <a:ext cx="5657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Fitting a Full Model -&gt; </a:t>
            </a:r>
            <a:r>
              <a:rPr lang="it-IT" sz="1600" dirty="0"/>
              <a:t>lm(v_decile_score ~ . ,data=train)</a:t>
            </a:r>
          </a:p>
          <a:p>
            <a:endParaRPr lang="en-IN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0E4DA-1720-8C0D-A35E-5D0D7BC02597}"/>
              </a:ext>
            </a:extLst>
          </p:cNvPr>
          <p:cNvSpPr/>
          <p:nvPr/>
        </p:nvSpPr>
        <p:spPr>
          <a:xfrm>
            <a:off x="136333" y="996108"/>
            <a:ext cx="5899355" cy="41295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AEB83-C996-A20F-CFA6-7C1C76CA479D}"/>
              </a:ext>
            </a:extLst>
          </p:cNvPr>
          <p:cNvSpPr txBox="1"/>
          <p:nvPr/>
        </p:nvSpPr>
        <p:spPr>
          <a:xfrm>
            <a:off x="6156314" y="996108"/>
            <a:ext cx="4857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Adjusted R-Square = 0.7021, Test MSE= 1.852994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F16FE1-96E7-CA08-C84D-F4E60F9E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6" y="1580883"/>
            <a:ext cx="3782282" cy="29331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AB0AB7-F14E-A893-06B8-AE52BAEA8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911" y="1606647"/>
            <a:ext cx="3844461" cy="29073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CFCAA3-3BA4-0E60-5DF4-5AA18306B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45" y="1580881"/>
            <a:ext cx="3508403" cy="29331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EA21B1-4EFC-1090-328D-855F3DCA56C4}"/>
              </a:ext>
            </a:extLst>
          </p:cNvPr>
          <p:cNvSpPr txBox="1"/>
          <p:nvPr/>
        </p:nvSpPr>
        <p:spPr>
          <a:xfrm>
            <a:off x="1229033" y="458403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Outliers Detected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4019B-0876-E237-3003-ABC48519395A}"/>
              </a:ext>
            </a:extLst>
          </p:cNvPr>
          <p:cNvSpPr txBox="1"/>
          <p:nvPr/>
        </p:nvSpPr>
        <p:spPr>
          <a:xfrm>
            <a:off x="5022720" y="4539764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Leverage Points Found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6D2FCE-31CA-9F9D-1CCC-FD03B25F14F0}"/>
              </a:ext>
            </a:extLst>
          </p:cNvPr>
          <p:cNvSpPr txBox="1"/>
          <p:nvPr/>
        </p:nvSpPr>
        <p:spPr>
          <a:xfrm>
            <a:off x="8640601" y="4539764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No Influential Points found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0331D1-9E5D-FDDA-BE96-6E88C5EC1F1F}"/>
              </a:ext>
            </a:extLst>
          </p:cNvPr>
          <p:cNvSpPr txBox="1"/>
          <p:nvPr/>
        </p:nvSpPr>
        <p:spPr>
          <a:xfrm>
            <a:off x="136333" y="5023410"/>
            <a:ext cx="11649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These points are deleted from the dataset and then we fit a new full model using the cleaned dataset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71AD4C-0457-0E23-9040-B939C119114E}"/>
              </a:ext>
            </a:extLst>
          </p:cNvPr>
          <p:cNvSpPr txBox="1"/>
          <p:nvPr/>
        </p:nvSpPr>
        <p:spPr>
          <a:xfrm>
            <a:off x="257352" y="5758851"/>
            <a:ext cx="11649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</a:t>
            </a:r>
            <a:r>
              <a:rPr lang="en-US" sz="1600" b="1" i="1" dirty="0">
                <a:solidFill>
                  <a:srgbClr val="FFFF00"/>
                </a:solidFill>
              </a:rPr>
              <a:t>Check Point </a:t>
            </a:r>
            <a:r>
              <a:rPr lang="en-US" sz="1600" dirty="0"/>
              <a:t>- Here in this Full Model all variables are used to predict the response, in further step of refinement we check for a subset where the same response can be predicted using less numbers of predictors.</a:t>
            </a:r>
            <a:endParaRPr lang="en-IN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824FA4-1AA7-9B96-9CB8-F47C17E402DF}"/>
              </a:ext>
            </a:extLst>
          </p:cNvPr>
          <p:cNvSpPr/>
          <p:nvPr/>
        </p:nvSpPr>
        <p:spPr>
          <a:xfrm>
            <a:off x="136333" y="5758851"/>
            <a:ext cx="11649342" cy="74243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15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E5BB46-1D89-FBCF-39FE-140A17F5EBEB}"/>
              </a:ext>
            </a:extLst>
          </p:cNvPr>
          <p:cNvSpPr txBox="1"/>
          <p:nvPr/>
        </p:nvSpPr>
        <p:spPr>
          <a:xfrm>
            <a:off x="3729336" y="196644"/>
            <a:ext cx="4185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highlight>
                  <a:srgbClr val="000080"/>
                </a:highlight>
              </a:rPr>
              <a:t>Subset Selection For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F45F0-8B1A-8C8E-A8FB-49CC6427BA3D}"/>
              </a:ext>
            </a:extLst>
          </p:cNvPr>
          <p:cNvSpPr txBox="1"/>
          <p:nvPr/>
        </p:nvSpPr>
        <p:spPr>
          <a:xfrm>
            <a:off x="398584" y="809035"/>
            <a:ext cx="11394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u="sng" dirty="0"/>
              <a:t>Forward Stepwise Technique </a:t>
            </a:r>
            <a:r>
              <a:rPr lang="en-IN" dirty="0"/>
              <a:t>have been used to make the subsets of model and hence factors like Adjusted R-Square, BIC and Mallow’s Cp have been calculated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3CFE7-FCEA-6535-E1B2-1FF657896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4" y="1683269"/>
            <a:ext cx="3760621" cy="2396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EA9DE1-ABDF-88A7-17C6-04DA81A35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880" y="1683268"/>
            <a:ext cx="3760620" cy="2396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B120EF-8F87-36F8-E3CD-3DD949E01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176" y="1683268"/>
            <a:ext cx="3610217" cy="23963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6E4E6C-B894-BE72-504B-53B0B799AF57}"/>
              </a:ext>
            </a:extLst>
          </p:cNvPr>
          <p:cNvSpPr txBox="1"/>
          <p:nvPr/>
        </p:nvSpPr>
        <p:spPr>
          <a:xfrm>
            <a:off x="398584" y="4180114"/>
            <a:ext cx="11528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Consider the Highest </a:t>
            </a:r>
            <a:r>
              <a:rPr lang="en-IN" sz="1400" dirty="0" err="1">
                <a:solidFill>
                  <a:schemeClr val="bg1"/>
                </a:solidFill>
              </a:rPr>
              <a:t>Adj</a:t>
            </a:r>
            <a:r>
              <a:rPr lang="en-IN" sz="1400" dirty="0">
                <a:solidFill>
                  <a:schemeClr val="bg1"/>
                </a:solidFill>
              </a:rPr>
              <a:t> R-</a:t>
            </a:r>
            <a:r>
              <a:rPr lang="en-IN" sz="1400" dirty="0" err="1">
                <a:solidFill>
                  <a:schemeClr val="bg1"/>
                </a:solidFill>
              </a:rPr>
              <a:t>Sq</a:t>
            </a:r>
            <a:r>
              <a:rPr lang="en-IN" sz="1400" dirty="0">
                <a:solidFill>
                  <a:schemeClr val="bg1"/>
                </a:solidFill>
              </a:rPr>
              <a:t> Value                            Consider lowest Cp Value                                Consider lowest BIC Value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78023-A3C5-A5E0-89E5-738A42C603AB}"/>
              </a:ext>
            </a:extLst>
          </p:cNvPr>
          <p:cNvSpPr txBox="1"/>
          <p:nvPr/>
        </p:nvSpPr>
        <p:spPr>
          <a:xfrm>
            <a:off x="224251" y="4678809"/>
            <a:ext cx="12027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Here model of adjr2 and cp has approximately equal R-sq and Adj R-sq value so we choose the best subset model with less number of predictors that is Cp which has 12 predictors.</a:t>
            </a:r>
            <a:r>
              <a:rPr lang="en-IN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652C4A-E2A4-DA58-F484-3C69DFA66830}"/>
              </a:ext>
            </a:extLst>
          </p:cNvPr>
          <p:cNvSpPr txBox="1"/>
          <p:nvPr/>
        </p:nvSpPr>
        <p:spPr>
          <a:xfrm>
            <a:off x="100484" y="5436158"/>
            <a:ext cx="11927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best_model</a:t>
            </a:r>
            <a:r>
              <a:rPr lang="en-US" sz="1400" dirty="0"/>
              <a:t>= </a:t>
            </a:r>
            <a:r>
              <a:rPr lang="en-US" sz="1400" dirty="0" err="1"/>
              <a:t>lm</a:t>
            </a:r>
            <a:r>
              <a:rPr lang="en-US" sz="1400" dirty="0"/>
              <a:t>(</a:t>
            </a:r>
            <a:r>
              <a:rPr lang="en-US" sz="1400" dirty="0" err="1"/>
              <a:t>v_decile_score</a:t>
            </a:r>
            <a:r>
              <a:rPr lang="en-US" sz="1400" dirty="0"/>
              <a:t> ~ age + </a:t>
            </a:r>
            <a:r>
              <a:rPr lang="en-US" sz="1400" dirty="0" err="1"/>
              <a:t>juv_fel_count</a:t>
            </a:r>
            <a:r>
              <a:rPr lang="en-US" sz="1400" dirty="0"/>
              <a:t> + </a:t>
            </a:r>
            <a:r>
              <a:rPr lang="en-US" sz="1400" dirty="0" err="1"/>
              <a:t>decile_score</a:t>
            </a:r>
            <a:r>
              <a:rPr lang="en-US" sz="1400" dirty="0"/>
              <a:t> + </a:t>
            </a:r>
            <a:r>
              <a:rPr lang="en-US" sz="1400" dirty="0" err="1"/>
              <a:t>juv_misd_count</a:t>
            </a:r>
            <a:r>
              <a:rPr lang="en-US" sz="1400" dirty="0"/>
              <a:t> + </a:t>
            </a:r>
            <a:r>
              <a:rPr lang="en-US" sz="1400" dirty="0" err="1"/>
              <a:t>juv_other_count</a:t>
            </a:r>
            <a:r>
              <a:rPr lang="en-US" sz="1400" dirty="0"/>
              <a:t> + </a:t>
            </a:r>
            <a:r>
              <a:rPr lang="en-US" sz="1400" dirty="0" err="1"/>
              <a:t>priors_count</a:t>
            </a:r>
            <a:r>
              <a:rPr lang="en-US" sz="1400" dirty="0"/>
              <a:t> + sex + </a:t>
            </a:r>
            <a:r>
              <a:rPr lang="en-US" sz="1400" dirty="0" err="1"/>
              <a:t>two_year_recid</a:t>
            </a:r>
            <a:r>
              <a:rPr lang="en-US" sz="1400" dirty="0"/>
              <a:t> + race + </a:t>
            </a:r>
            <a:r>
              <a:rPr lang="en-US" sz="1400" dirty="0" err="1"/>
              <a:t>c_jail_in</a:t>
            </a:r>
            <a:r>
              <a:rPr lang="en-US" sz="1400" dirty="0"/>
              <a:t> + </a:t>
            </a:r>
            <a:r>
              <a:rPr lang="en-US" sz="1400" dirty="0" err="1"/>
              <a:t>c_jail_out</a:t>
            </a:r>
            <a:r>
              <a:rPr lang="en-US" sz="1400" dirty="0"/>
              <a:t> + </a:t>
            </a:r>
            <a:r>
              <a:rPr lang="en-US" sz="1400" dirty="0" err="1"/>
              <a:t>screening_date</a:t>
            </a:r>
            <a:r>
              <a:rPr lang="en-US" sz="1400" dirty="0"/>
              <a:t> , data = train )</a:t>
            </a:r>
          </a:p>
          <a:p>
            <a:endParaRPr lang="en-I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16A5EB-8857-CEE9-2B42-67068EB666E2}"/>
              </a:ext>
            </a:extLst>
          </p:cNvPr>
          <p:cNvSpPr/>
          <p:nvPr/>
        </p:nvSpPr>
        <p:spPr>
          <a:xfrm>
            <a:off x="0" y="5436158"/>
            <a:ext cx="12027877" cy="61280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A6FA38-6A11-57AE-1795-0F341079DC2F}"/>
              </a:ext>
            </a:extLst>
          </p:cNvPr>
          <p:cNvSpPr txBox="1"/>
          <p:nvPr/>
        </p:nvSpPr>
        <p:spPr>
          <a:xfrm>
            <a:off x="9307765" y="5805490"/>
            <a:ext cx="26196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err="1"/>
              <a:t>Adj</a:t>
            </a:r>
            <a:r>
              <a:rPr lang="en-IN" sz="1100" dirty="0"/>
              <a:t> R-</a:t>
            </a:r>
            <a:r>
              <a:rPr lang="en-IN" sz="1100" dirty="0" err="1"/>
              <a:t>Sq</a:t>
            </a:r>
            <a:r>
              <a:rPr lang="en-IN" sz="1100" dirty="0"/>
              <a:t> = 0.7022, Test MSE = 1.8233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955921-3501-F37F-054C-15EBC27D8CCE}"/>
              </a:ext>
            </a:extLst>
          </p:cNvPr>
          <p:cNvSpPr txBox="1"/>
          <p:nvPr/>
        </p:nvSpPr>
        <p:spPr>
          <a:xfrm>
            <a:off x="2573571" y="6221539"/>
            <a:ext cx="6497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solidFill>
                  <a:srgbClr val="FFFF00"/>
                </a:solidFill>
              </a:rPr>
              <a:t>Check Point </a:t>
            </a:r>
            <a:r>
              <a:rPr lang="en-IN" dirty="0"/>
              <a:t>– Best Subset Model is better than Full Model</a:t>
            </a:r>
          </a:p>
        </p:txBody>
      </p:sp>
    </p:spTree>
    <p:extLst>
      <p:ext uri="{BB962C8B-B14F-4D97-AF65-F5344CB8AC3E}">
        <p14:creationId xmlns:p14="http://schemas.microsoft.com/office/powerpoint/2010/main" val="365903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E002-0420-498B-3D49-5C451FB6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C926C-5C3C-E6FC-84FC-22C27F5B3FEB}"/>
              </a:ext>
            </a:extLst>
          </p:cNvPr>
          <p:cNvSpPr txBox="1"/>
          <p:nvPr/>
        </p:nvSpPr>
        <p:spPr>
          <a:xfrm>
            <a:off x="3687071" y="196644"/>
            <a:ext cx="4289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highlight>
                  <a:srgbClr val="000080"/>
                </a:highlight>
              </a:rPr>
              <a:t>Ridge Regression For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DC7DD-B4C5-D1A3-769A-C4DDBDC1454D}"/>
              </a:ext>
            </a:extLst>
          </p:cNvPr>
          <p:cNvSpPr txBox="1"/>
          <p:nvPr/>
        </p:nvSpPr>
        <p:spPr>
          <a:xfrm>
            <a:off x="6410633" y="1753432"/>
            <a:ext cx="4326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Ridge helps reducing overfitting of model and multicollinearity among the variables.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61D146-AD1C-7D83-4D1D-2D38FD302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4" y="1936955"/>
            <a:ext cx="4818599" cy="33443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1119F-2921-F212-B925-B6B1DE997169}"/>
              </a:ext>
            </a:extLst>
          </p:cNvPr>
          <p:cNvSpPr txBox="1"/>
          <p:nvPr/>
        </p:nvSpPr>
        <p:spPr>
          <a:xfrm>
            <a:off x="245015" y="5474449"/>
            <a:ext cx="481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Values of Lambda Using Cross Validation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4DE0B0-B2F4-24F7-CE1B-299DEB91B5FF}"/>
              </a:ext>
            </a:extLst>
          </p:cNvPr>
          <p:cNvSpPr txBox="1"/>
          <p:nvPr/>
        </p:nvSpPr>
        <p:spPr>
          <a:xfrm>
            <a:off x="6410633" y="3348804"/>
            <a:ext cx="298900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sz="1400" dirty="0" err="1"/>
              <a:t>ridge_model</a:t>
            </a:r>
            <a:r>
              <a:rPr lang="en-IN" sz="1400" dirty="0"/>
              <a:t> = </a:t>
            </a:r>
            <a:r>
              <a:rPr lang="en-IN" sz="1400" dirty="0" err="1"/>
              <a:t>glmnet</a:t>
            </a:r>
            <a:r>
              <a:rPr lang="en-IN" sz="1400" dirty="0"/>
              <a:t>(</a:t>
            </a:r>
          </a:p>
          <a:p>
            <a:pPr latinLnBrk="1"/>
            <a:r>
              <a:rPr lang="en-IN" sz="1400" dirty="0"/>
              <a:t>  </a:t>
            </a:r>
            <a:r>
              <a:rPr lang="en-IN" sz="1400" dirty="0" err="1"/>
              <a:t>x_train</a:t>
            </a:r>
            <a:r>
              <a:rPr lang="en-IN" sz="1400" dirty="0"/>
              <a:t>,</a:t>
            </a:r>
          </a:p>
          <a:p>
            <a:pPr latinLnBrk="1"/>
            <a:r>
              <a:rPr lang="en-IN" sz="1400" dirty="0"/>
              <a:t>  </a:t>
            </a:r>
            <a:r>
              <a:rPr lang="en-IN" sz="1400" dirty="0" err="1"/>
              <a:t>y_train</a:t>
            </a:r>
            <a:r>
              <a:rPr lang="en-IN" sz="1400" dirty="0"/>
              <a:t>,</a:t>
            </a:r>
          </a:p>
          <a:p>
            <a:pPr latinLnBrk="1"/>
            <a:r>
              <a:rPr lang="en-IN" sz="1400" dirty="0"/>
              <a:t>  alpha = 0,</a:t>
            </a:r>
          </a:p>
          <a:p>
            <a:pPr latinLnBrk="1"/>
            <a:r>
              <a:rPr lang="en-IN" sz="1400" dirty="0"/>
              <a:t>  lambda = </a:t>
            </a:r>
            <a:r>
              <a:rPr lang="en-IN" sz="1400" dirty="0" err="1"/>
              <a:t>ridge_cv$lambda.min</a:t>
            </a:r>
            <a:endParaRPr lang="en-IN" sz="1400" dirty="0"/>
          </a:p>
          <a:p>
            <a:pPr latinLnBrk="1"/>
            <a:r>
              <a:rPr lang="en-IN" sz="1400" dirty="0"/>
              <a:t>)</a:t>
            </a:r>
          </a:p>
          <a:p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2E8094-0AE3-1DD8-67E5-69634DA62C9B}"/>
              </a:ext>
            </a:extLst>
          </p:cNvPr>
          <p:cNvSpPr/>
          <p:nvPr/>
        </p:nvSpPr>
        <p:spPr>
          <a:xfrm>
            <a:off x="6282812" y="3165946"/>
            <a:ext cx="3116827" cy="200525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762CAC-F9B2-8FFF-9C4E-251618685CE9}"/>
              </a:ext>
            </a:extLst>
          </p:cNvPr>
          <p:cNvSpPr txBox="1"/>
          <p:nvPr/>
        </p:nvSpPr>
        <p:spPr>
          <a:xfrm>
            <a:off x="6096000" y="5281279"/>
            <a:ext cx="3773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Best Tuning Parameter = 0.1925</a:t>
            </a:r>
          </a:p>
          <a:p>
            <a:r>
              <a:rPr lang="en-IN" dirty="0"/>
              <a:t>Test MSE = 1.85277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1165E-A06B-9EF2-89B4-F65BDE2A177C}"/>
              </a:ext>
            </a:extLst>
          </p:cNvPr>
          <p:cNvSpPr txBox="1"/>
          <p:nvPr/>
        </p:nvSpPr>
        <p:spPr>
          <a:xfrm>
            <a:off x="314632" y="766916"/>
            <a:ext cx="1179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we have categorical variables in this dataset and multicollinearity then we perform the regression using Ridge and Lasso taking the values of Tuning Parameter through cross validation technique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66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3AFB1-7BD8-6668-208E-21BAA0E78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ED2F2-378D-AE7A-BE1C-82FAC9B78A73}"/>
              </a:ext>
            </a:extLst>
          </p:cNvPr>
          <p:cNvSpPr txBox="1"/>
          <p:nvPr/>
        </p:nvSpPr>
        <p:spPr>
          <a:xfrm>
            <a:off x="3644592" y="196644"/>
            <a:ext cx="4374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highlight>
                  <a:srgbClr val="000080"/>
                </a:highlight>
              </a:rPr>
              <a:t>LASSO Regression For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B00BB-4E2C-32F8-44CE-9B00E4174A5D}"/>
              </a:ext>
            </a:extLst>
          </p:cNvPr>
          <p:cNvSpPr txBox="1"/>
          <p:nvPr/>
        </p:nvSpPr>
        <p:spPr>
          <a:xfrm>
            <a:off x="391210" y="4834340"/>
            <a:ext cx="481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Values of Lambda Using Cross Validation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8CA855-818E-01FC-486D-544C4DDE7144}"/>
              </a:ext>
            </a:extLst>
          </p:cNvPr>
          <p:cNvSpPr/>
          <p:nvPr/>
        </p:nvSpPr>
        <p:spPr>
          <a:xfrm>
            <a:off x="6461094" y="1450041"/>
            <a:ext cx="3116827" cy="200525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A84C1B-5850-3A3B-93DD-20D4F94F10AC}"/>
              </a:ext>
            </a:extLst>
          </p:cNvPr>
          <p:cNvSpPr txBox="1"/>
          <p:nvPr/>
        </p:nvSpPr>
        <p:spPr>
          <a:xfrm>
            <a:off x="6213987" y="3547900"/>
            <a:ext cx="3645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Best Tuning Parameter = 0.0025</a:t>
            </a:r>
          </a:p>
          <a:p>
            <a:r>
              <a:rPr lang="en-IN" dirty="0"/>
              <a:t>Test MSE = 1.83685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C9379-E025-47F8-7625-BF06BE6E39FC}"/>
              </a:ext>
            </a:extLst>
          </p:cNvPr>
          <p:cNvSpPr txBox="1"/>
          <p:nvPr/>
        </p:nvSpPr>
        <p:spPr>
          <a:xfrm>
            <a:off x="314632" y="766916"/>
            <a:ext cx="1179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LASSO helps for variable selection and shrinkage of coefficients making model performance better.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D9E64-9028-FB4E-A19B-3E6B1F943DA8}"/>
              </a:ext>
            </a:extLst>
          </p:cNvPr>
          <p:cNvSpPr txBox="1"/>
          <p:nvPr/>
        </p:nvSpPr>
        <p:spPr>
          <a:xfrm>
            <a:off x="6803924" y="1542643"/>
            <a:ext cx="28611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sz="1400" dirty="0" err="1"/>
              <a:t>lasso_model</a:t>
            </a:r>
            <a:r>
              <a:rPr lang="en-IN" sz="1400" dirty="0"/>
              <a:t> = </a:t>
            </a:r>
            <a:r>
              <a:rPr lang="en-IN" sz="1400" dirty="0" err="1"/>
              <a:t>glmnet</a:t>
            </a:r>
            <a:r>
              <a:rPr lang="en-IN" sz="1400" dirty="0"/>
              <a:t>(</a:t>
            </a:r>
          </a:p>
          <a:p>
            <a:pPr latinLnBrk="1"/>
            <a:r>
              <a:rPr lang="en-IN" sz="1400" dirty="0"/>
              <a:t>  </a:t>
            </a:r>
            <a:r>
              <a:rPr lang="en-IN" sz="1400" dirty="0" err="1"/>
              <a:t>x_train</a:t>
            </a:r>
            <a:r>
              <a:rPr lang="en-IN" sz="1400" dirty="0"/>
              <a:t>,</a:t>
            </a:r>
          </a:p>
          <a:p>
            <a:pPr latinLnBrk="1"/>
            <a:r>
              <a:rPr lang="en-IN" sz="1400" dirty="0"/>
              <a:t>  </a:t>
            </a:r>
            <a:r>
              <a:rPr lang="en-IN" sz="1400" dirty="0" err="1"/>
              <a:t>y_train</a:t>
            </a:r>
            <a:r>
              <a:rPr lang="en-IN" sz="1400" dirty="0"/>
              <a:t>,</a:t>
            </a:r>
          </a:p>
          <a:p>
            <a:pPr latinLnBrk="1"/>
            <a:r>
              <a:rPr lang="en-IN" sz="1400" dirty="0"/>
              <a:t>  alpha = 1,</a:t>
            </a:r>
          </a:p>
          <a:p>
            <a:pPr latinLnBrk="1"/>
            <a:r>
              <a:rPr lang="en-IN" sz="1400" dirty="0"/>
              <a:t>  lambda = </a:t>
            </a:r>
            <a:r>
              <a:rPr lang="en-IN" sz="1400" dirty="0" err="1"/>
              <a:t>lasso_cv$lambda.min</a:t>
            </a:r>
            <a:endParaRPr lang="en-IN" sz="1400" dirty="0"/>
          </a:p>
          <a:p>
            <a:pPr latinLnBrk="1"/>
            <a:r>
              <a:rPr lang="en-IN" sz="14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8652C9-0222-A266-9EDD-B1AADF986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4" y="1330887"/>
            <a:ext cx="5421187" cy="3444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C7E524-89AB-4FCA-BF8D-0041A796A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495862" y="5155808"/>
            <a:ext cx="3539613" cy="1375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A5CAF-A239-5EC1-D03C-26B288D224D0}"/>
              </a:ext>
            </a:extLst>
          </p:cNvPr>
          <p:cNvSpPr txBox="1"/>
          <p:nvPr/>
        </p:nvSpPr>
        <p:spPr>
          <a:xfrm>
            <a:off x="391210" y="5948516"/>
            <a:ext cx="7628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FF00"/>
                </a:solidFill>
              </a:rPr>
              <a:t>Check Point </a:t>
            </a:r>
            <a:r>
              <a:rPr lang="en-IN" dirty="0"/>
              <a:t>-  Compare the Test MSE of all Models and choose the best for Predicting the Decile score of Offender.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E51F3-1AF6-A683-A86E-9139727954D8}"/>
              </a:ext>
            </a:extLst>
          </p:cNvPr>
          <p:cNvSpPr/>
          <p:nvPr/>
        </p:nvSpPr>
        <p:spPr>
          <a:xfrm>
            <a:off x="245015" y="5843781"/>
            <a:ext cx="8102572" cy="9109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97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184AA1-B4CE-AE1B-52EB-FDBFEA302A01}"/>
              </a:ext>
            </a:extLst>
          </p:cNvPr>
          <p:cNvSpPr txBox="1"/>
          <p:nvPr/>
        </p:nvSpPr>
        <p:spPr>
          <a:xfrm>
            <a:off x="4413155" y="235972"/>
            <a:ext cx="28937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highlight>
                  <a:srgbClr val="000080"/>
                </a:highlight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D99DD-BDE0-DAC5-F71F-ADC9FA2A1F0B}"/>
              </a:ext>
            </a:extLst>
          </p:cNvPr>
          <p:cNvSpPr txBox="1"/>
          <p:nvPr/>
        </p:nvSpPr>
        <p:spPr>
          <a:xfrm>
            <a:off x="226142" y="1177626"/>
            <a:ext cx="2182761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1100" dirty="0"/>
              <a:t>Model                        </a:t>
            </a:r>
            <a:r>
              <a:rPr lang="en-US" sz="1100" dirty="0" err="1"/>
              <a:t>Test_MSE</a:t>
            </a:r>
            <a:endParaRPr lang="en-US" sz="1100" dirty="0"/>
          </a:p>
          <a:p>
            <a:pPr latinLnBrk="1"/>
            <a:r>
              <a:rPr lang="en-US" sz="1100" dirty="0"/>
              <a:t> Full Regression          1.825994</a:t>
            </a:r>
          </a:p>
          <a:p>
            <a:pPr latinLnBrk="1"/>
            <a:r>
              <a:rPr lang="en-US" sz="1100" dirty="0"/>
              <a:t> Best Subset               1.822380</a:t>
            </a:r>
          </a:p>
          <a:p>
            <a:pPr latinLnBrk="1"/>
            <a:r>
              <a:rPr lang="en-US" sz="1100" dirty="0"/>
              <a:t> Ridge                         1.852778</a:t>
            </a:r>
          </a:p>
          <a:p>
            <a:pPr latinLnBrk="1"/>
            <a:r>
              <a:rPr lang="en-US" sz="1100" dirty="0"/>
              <a:t> Lasso 			1.836850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9E53A8-4038-3D16-AE2D-F3EA43547920}"/>
              </a:ext>
            </a:extLst>
          </p:cNvPr>
          <p:cNvSpPr/>
          <p:nvPr/>
        </p:nvSpPr>
        <p:spPr>
          <a:xfrm>
            <a:off x="226142" y="1071716"/>
            <a:ext cx="2330245" cy="110121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6357A-EB3A-6E9F-B76E-84DADA6E7D07}"/>
              </a:ext>
            </a:extLst>
          </p:cNvPr>
          <p:cNvSpPr txBox="1"/>
          <p:nvPr/>
        </p:nvSpPr>
        <p:spPr>
          <a:xfrm>
            <a:off x="3026256" y="1071716"/>
            <a:ext cx="87036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Since the TEST MSE of </a:t>
            </a:r>
            <a:r>
              <a:rPr lang="en-US" sz="1600" i="1" dirty="0">
                <a:solidFill>
                  <a:srgbClr val="FFFF00"/>
                </a:solidFill>
              </a:rPr>
              <a:t>Best subset</a:t>
            </a:r>
            <a:r>
              <a:rPr lang="en-US" sz="1600" dirty="0">
                <a:solidFill>
                  <a:srgbClr val="FFFF00"/>
                </a:solidFill>
              </a:rPr>
              <a:t> selected </a:t>
            </a:r>
            <a:r>
              <a:rPr lang="en-US" sz="1600" dirty="0"/>
              <a:t>through forward stepwise selection is lower we choose this model over others, here the number of predictors used is also less as compared to other model. </a:t>
            </a:r>
          </a:p>
          <a:p>
            <a:br>
              <a:rPr lang="en-US" sz="1600" dirty="0"/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Important predictors </a:t>
            </a:r>
            <a:r>
              <a:rPr lang="en-US" sz="1600" dirty="0"/>
              <a:t>are age, COMPASS score decile, Number of other juvenile convictions, Race, Number of prior crimes committed and recidivism within two years as these directly reflect criminal history and risk.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76B72-ABE7-3629-4E04-CE7FC937CCEA}"/>
              </a:ext>
            </a:extLst>
          </p:cNvPr>
          <p:cNvSpPr txBox="1"/>
          <p:nvPr/>
        </p:nvSpPr>
        <p:spPr>
          <a:xfrm>
            <a:off x="700205" y="3165987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2060"/>
                </a:solidFill>
              </a:rPr>
              <a:t>FINDINGS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D15CD-B1E0-E7A8-0072-96B9FD359EC8}"/>
              </a:ext>
            </a:extLst>
          </p:cNvPr>
          <p:cNvSpPr txBox="1"/>
          <p:nvPr/>
        </p:nvSpPr>
        <p:spPr>
          <a:xfrm>
            <a:off x="226142" y="3618271"/>
            <a:ext cx="58698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Criminal history variables strongly influence violent decile risk score.</a:t>
            </a:r>
            <a:br>
              <a:rPr lang="en-US" sz="1600" dirty="0"/>
            </a:br>
            <a:r>
              <a:rPr lang="en-US" sz="1600" dirty="0"/>
              <a:t>Prior offenses and recidivism indicators are major predictors.</a:t>
            </a:r>
            <a:br>
              <a:rPr lang="en-US" sz="1600" dirty="0"/>
            </a:br>
            <a:r>
              <a:rPr lang="en-US" sz="1600" dirty="0"/>
              <a:t>Ridge and Lasso improve prediction stability.</a:t>
            </a:r>
            <a:br>
              <a:rPr lang="en-US" sz="1600" dirty="0"/>
            </a:br>
            <a:r>
              <a:rPr lang="en-US" sz="1600" dirty="0"/>
              <a:t>Removing influential observations improves model reliability.</a:t>
            </a:r>
            <a:br>
              <a:rPr lang="en-US" sz="1600" dirty="0"/>
            </a:br>
            <a:r>
              <a:rPr lang="en-US" sz="1600" dirty="0"/>
              <a:t>Forward subset selection reduces unnecessary variables.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CED0D-FF61-8AD0-4030-50E56F4C9341}"/>
              </a:ext>
            </a:extLst>
          </p:cNvPr>
          <p:cNvSpPr txBox="1"/>
          <p:nvPr/>
        </p:nvSpPr>
        <p:spPr>
          <a:xfrm>
            <a:off x="4554684" y="6226381"/>
            <a:ext cx="282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000080"/>
                </a:highlight>
                <a:latin typeface="Arial Black" panose="020B0A04020102020204" pitchFamily="34" charset="0"/>
              </a:rPr>
              <a:t>THANK YOU !!!!!!!!!!!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C920A0-E946-F372-1498-159482F5B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80123" y="3618271"/>
            <a:ext cx="4771103" cy="206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9415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610</TotalTime>
  <Words>875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Display</vt:lpstr>
      <vt:lpstr>Arial Black</vt:lpstr>
      <vt:lpstr>Century Gothic</vt:lpstr>
      <vt:lpstr>Wingdings 3</vt:lpstr>
      <vt:lpstr>Slice</vt:lpstr>
      <vt:lpstr>Predictive Model for DECILE Score of a Criminal Offender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Subhodeep Bhattacharjee</dc:creator>
  <cp:lastModifiedBy>Subhodeep Bhattacharjee</cp:lastModifiedBy>
  <cp:revision>7</cp:revision>
  <dcterms:created xsi:type="dcterms:W3CDTF">2026-05-07T08:27:27Z</dcterms:created>
  <dcterms:modified xsi:type="dcterms:W3CDTF">2026-05-07T18:38:12Z</dcterms:modified>
</cp:coreProperties>
</file>